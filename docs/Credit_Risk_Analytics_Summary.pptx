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250" b="1" i="0" u="none" strike="noStrike">
                <a:solidFill>
                  <a:srgbClr val="1E2761"/>
                </a:solidFill>
                <a:latin typeface="Calibri"/>
              </a:rPr>
              <a:t>Target Event Rate — roll_to_90p_6m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D6483F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Did Not Roll  (1,368,513)</c:v>
                </c:pt>
                <c:pt idx="1">
                  <c:v>Rolled to 90+ DPD  (145,532)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1368513</c:v>
                </c:pt>
                <c:pt idx="1">
                  <c:v>145532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445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250" b="1" i="0" u="none" strike="noStrike">
                <a:solidFill>
                  <a:srgbClr val="1E2761"/>
                </a:solidFill>
                <a:latin typeface="Calibri"/>
              </a:rPr>
              <a:t>6-Month Label-Window Coverage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8C7A"/>
              </a:solidFill>
              <a:effectLst/>
            </c:spPr>
          </c:dPt>
          <c:dPt>
            <c:idx val="1"/>
            <c:bubble3D val="0"/>
            <c:spPr>
              <a:solidFill>
                <a:srgbClr val="D6483F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Usable — Full 6-Month Window  (1,232,285)</c:v>
                </c:pt>
                <c:pt idx="1">
                  <c:v>Right-Censored — Excluded  (281,760)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1232285</c:v>
                </c:pt>
                <c:pt idx="1">
                  <c:v>281760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D445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(23 mo)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 mo&quot;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39-Month Study Period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(5 mo)</c:v>
                </c:pt>
              </c:strCache>
            </c:strRef>
          </c:tx>
          <c:spPr>
            <a:solidFill>
              <a:srgbClr val="7C93C9"/>
            </a:solidFill>
            <a:effectLst/>
          </c:spPr>
          <c:invertIfNegative val="0"/>
          <c:dLbls>
            <c:numFmt formatCode="0&quot; mo&quot;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39-Month Study Period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OOT Test (5 mo)</c:v>
                </c:pt>
              </c:strCache>
            </c:strRef>
          </c:tx>
          <c:spPr>
            <a:solidFill>
              <a:srgbClr val="E3A23C"/>
            </a:solidFill>
            <a:effectLst/>
          </c:spPr>
          <c:invertIfNegative val="0"/>
          <c:dLbls>
            <c:numFmt formatCode="0&quot; mo&quot;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39-Month Study Period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Excluded — Right-Censored (6 mo)</c:v>
                </c:pt>
              </c:strCache>
            </c:strRef>
          </c:tx>
          <c:spPr>
            <a:solidFill>
              <a:srgbClr val="C7CCDA"/>
            </a:solidFill>
            <a:effectLst/>
          </c:spPr>
          <c:invertIfNegative val="0"/>
          <c:dLbls>
            <c:numFmt formatCode="0&quot; mo&quot;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39-Month Study Period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dLbls>
          <c:numFmt formatCode="0&quot; mo&quot;" sourceLinked="0"/>
          <c:txPr>
            <a:bodyPr/>
            <a:lstStyle/>
            <a:p>
              <a:pPr>
                <a:defRPr b="0" i="0" strike="noStrike" sz="115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45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9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3D445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Calibri"/>
              </a:rPr>
              <a:t>Top-Decile Capture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Top-Decile Capture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3D445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A2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24.6</c:v>
                </c:pt>
                <c:pt idx="1">
                  <c:v>22.5</c:v>
                </c:pt>
                <c:pt idx="2">
                  <c:v>24.5</c:v>
                </c:pt>
                <c:pt idx="3">
                  <c:v>25.2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50" u="none">
                  <a:solidFill>
                    <a:srgbClr val="3D445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D445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7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Calibri"/>
              </a:rPr>
              <a:t>Out-of-Time AUC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OOT 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3D445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A2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0.7122</c:v>
                </c:pt>
                <c:pt idx="1">
                  <c:v>0.6978</c:v>
                </c:pt>
                <c:pt idx="2">
                  <c:v>0.7094</c:v>
                </c:pt>
                <c:pt idx="3">
                  <c:v>0.7148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50" u="none">
                  <a:solidFill>
                    <a:srgbClr val="3D445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D445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7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Calibri"/>
              </a:rPr>
              <a:t>OOT Bad Rate by Score Decile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 Rate</c:v>
                </c:pt>
              </c:strCache>
            </c:strRef>
          </c:tx>
          <c:spPr>
            <a:solidFill>
              <a:srgbClr val="1C8C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50" u="none">
                    <a:solidFill>
                      <a:srgbClr val="3D445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8C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83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Bottom Decile
(Safest 10%)</c:v>
                  </c:pt>
                  <c:pt idx="1">
                    <c:v>Top Decile
(Riskiest 10%)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26.7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50" u="none">
                  <a:solidFill>
                    <a:srgbClr val="3D445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D445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7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250" b="1" i="0" u="none" strike="noStrike">
                <a:solidFill>
                  <a:srgbClr val="1E2761"/>
                </a:solidFill>
                <a:latin typeface="Calibri"/>
              </a:rPr>
              <a:t>Net Benefit vs. Collection Capacity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Benefit</c:v>
                </c:pt>
              </c:strCache>
            </c:strRef>
          </c:tx>
          <c:spPr>
            <a:solidFill>
              <a:srgbClr val="7C93C9"/>
            </a:solidFill>
            <a:effectLst/>
          </c:spPr>
          <c:invertIfNegative val="0"/>
          <c:dLbls>
            <c:numFmt formatCode="&quot;₹&quot;0&quot;M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D445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93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A2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5% Capacity</c:v>
                  </c:pt>
                  <c:pt idx="1">
                    <c:v>30% Capacity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</c:v>
                </c:pt>
                <c:pt idx="1">
                  <c:v>243</c:v>
                </c:pt>
              </c:numCache>
            </c:numRef>
          </c:val>
        </c:ser>
        <c:dLbls>
          <c:numFmt formatCode="&quot;₹&quot;0&quot;M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3D445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D445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0"/>
        <c:axPos val="l"/>
        <c:majorGridlines>
          <c:spPr>
            <a:ln w="9525" cap="flat">
              <a:solidFill>
                <a:srgbClr val="E7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77640"/>
            <a:ext cx="3657600" cy="3657600"/>
          </a:xfrm>
          <a:prstGeom prst="ellipse">
            <a:avLst/>
          </a:prstGeom>
          <a:ln w="12700">
            <a:solidFill>
              <a:srgbClr val="CADCFC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4434840"/>
            <a:ext cx="2743200" cy="2743200"/>
          </a:xfrm>
          <a:prstGeom prst="ellipse">
            <a:avLst/>
          </a:prstGeom>
          <a:ln w="12700">
            <a:solidFill>
              <a:srgbClr val="CADCFC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892040"/>
            <a:ext cx="1828800" cy="1828800"/>
          </a:xfrm>
          <a:prstGeom prst="ellipse">
            <a:avLst/>
          </a:prstGeom>
          <a:ln w="12700">
            <a:solidFill>
              <a:srgbClr val="CADCFC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81328"/>
            <a:ext cx="146304" cy="146304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8992" y="1399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Serious Delinquency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Active Credit Accounts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Behavioral Risk Early-Warning System for Proactive Collections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2B3789"/>
          </a:solidFill>
          <a:ln w="9525">
            <a:solidFill>
              <a:srgbClr val="4451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709160"/>
            <a:ext cx="3429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1.5M+ Trade-Month Observations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53128" y="4709160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2B3789"/>
          </a:solidFill>
          <a:ln w="9525">
            <a:solidFill>
              <a:srgbClr val="4451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53128" y="4709160"/>
            <a:ext cx="187452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56,539 Accounts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28816" y="4709160"/>
            <a:ext cx="4434840" cy="438912"/>
          </a:xfrm>
          <a:prstGeom prst="roundRect">
            <a:avLst>
              <a:gd name="adj" fmla="val 50000"/>
            </a:avLst>
          </a:prstGeom>
          <a:solidFill>
            <a:srgbClr val="2B3789"/>
          </a:solidFill>
          <a:ln w="9525">
            <a:solidFill>
              <a:srgbClr val="4451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8816" y="4709160"/>
            <a:ext cx="443484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Champion / Challenger Comparison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evaluation on real, computed results — nothing in this analysis is hardcoded.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Summary  •  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10-Step Walkthrough — Mirrors the Live Dashboard's Main Flow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78308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56032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33756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11480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OOT Split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89204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Screening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178308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/ AUC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8805672" y="1837944"/>
            <a:ext cx="685800" cy="292608"/>
          </a:xfrm>
          <a:prstGeom prst="rect">
            <a:avLst/>
          </a:prstGeom>
          <a:solidFill>
            <a:srgbClr val="E3A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256032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&amp; Gains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635508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76872" y="333756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Simulator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635508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76872" y="411480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Cost-Benefit Analyzer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635508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489204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Recommendation</a:t>
            </a:r>
            <a:endParaRPr lang="en-US" sz="16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 as the interactive dashboard's Main section — Appendix pages (EDA, Feature Lab, Leakage &amp; Governance, Explainability, Account 360, and more) stay one click away for follow-up questions.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Recovery to Proactive Collections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63677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Predict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96596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 active account rolls to 90+ Days Past Due within the next 6 months — target variable roll_to_90p_6m.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7157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 of Analysis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044952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account per month (a trade-month observation) — every active account is scored every month.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794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90+ DPD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123944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where credit losses become largely unrecoverable — the last point where proactive intervention still helps.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286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8737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5202936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collections from reactive (after default) to proactive (before it) by prioritizing outreach on predicted risk.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52360" y="1664208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635240" y="19385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1.5M+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25420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trade-month observations analyzed, out-of-time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32339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38374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observations are positive events (roll_to_90p_6m)</a:t>
            </a:r>
            <a:endParaRPr lang="en-US" sz="108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45293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Months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51328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horizon — the early-warning window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Clean, Real-World-Scale Portfolio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929384"/>
            <a:ext cx="2084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1,514,045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Trade-month observations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79776" y="178308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79776" y="1929384"/>
            <a:ext cx="2084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56,539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871216" y="274320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accounts (trade_id)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10912" y="178308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10912" y="1929384"/>
            <a:ext cx="2084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23,405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102352" y="274320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48640" y="3511296"/>
            <a:ext cx="2084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251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79776" y="3364992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779776" y="3511296"/>
            <a:ext cx="2084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871216" y="43251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10912" y="3364992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010912" y="3511296"/>
            <a:ext cx="208483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mo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102352" y="43251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Mar 2026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56632"/>
            <a:ext cx="6547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case-study Indian consumer-lending dataset — illustrative of methodology on realistic data, not a real lender's live portfolio.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360920" y="1691640"/>
          <a:ext cx="4251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7452360" y="5806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 positive — imbalanced, but workable directly without resampling.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a Right-Censoring Bug Before It Reached the Model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4937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1691640"/>
            <a:ext cx="6035040" cy="1965960"/>
          </a:xfrm>
          <a:prstGeom prst="roundRect">
            <a:avLst>
              <a:gd name="adj" fmla="val 372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879592" y="18288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79592" y="2121408"/>
            <a:ext cx="5522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roll-rate chart showed the event rate collapsing to exactly 0% in the final month — not declining risk, but a 6-month forward-looking label with no room left to observe the outcome. Caught via compute_label_maturity() and flagged red in the Data Quality Dashboard; the affected rows are excluded from training.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3886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AUTOMATED VALIDATION CHECKS — ALL CLEAN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23560" y="4297680"/>
            <a:ext cx="201168" cy="201168"/>
          </a:xfrm>
          <a:prstGeom prst="ellipse">
            <a:avLst/>
          </a:prstGeom>
          <a:solidFill>
            <a:srgbClr val="1C8C7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2356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916168" y="423367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account IDs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41080" y="4297680"/>
            <a:ext cx="201168" cy="201168"/>
          </a:xfrm>
          <a:prstGeom prst="ellipse">
            <a:avLst/>
          </a:prstGeom>
          <a:solidFill>
            <a:srgbClr val="1C8C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4108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933688" y="423367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Utilization-ratio anomalies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23560" y="4681728"/>
            <a:ext cx="201168" cy="201168"/>
          </a:xfrm>
          <a:prstGeom prst="ellipse">
            <a:avLst/>
          </a:prstGeom>
          <a:solidFill>
            <a:srgbClr val="1C8C7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62356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916168" y="46177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anomalies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641080" y="4681728"/>
            <a:ext cx="201168" cy="201168"/>
          </a:xfrm>
          <a:prstGeom prst="ellipse">
            <a:avLst/>
          </a:prstGeom>
          <a:solidFill>
            <a:srgbClr val="1C8C7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41080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933688" y="46177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Payment-ratio anomalies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23560" y="5065776"/>
            <a:ext cx="201168" cy="201168"/>
          </a:xfrm>
          <a:prstGeom prst="ellipse">
            <a:avLst/>
          </a:prstGeom>
          <a:solidFill>
            <a:srgbClr val="1C8C7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62356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916168" y="500176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641080" y="5065776"/>
            <a:ext cx="201168" cy="201168"/>
          </a:xfrm>
          <a:prstGeom prst="ellipse">
            <a:avLst/>
          </a:prstGeom>
          <a:solidFill>
            <a:srgbClr val="1C8C7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641080" y="5065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933688" y="500176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target values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23560" y="5449824"/>
            <a:ext cx="201168" cy="201168"/>
          </a:xfrm>
          <a:prstGeom prst="ellipse">
            <a:avLst/>
          </a:prstGeom>
          <a:solidFill>
            <a:srgbClr val="1C8C7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623560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916168" y="538581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balances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623560" y="5989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· 0 duplicate IDs · 0 out-of-range values found.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 SPLIT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True Out-of-Time Split — Never Random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110642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811512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8640" y="44805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13892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 (18 base + 19 engineered behavioral features)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334256" y="43434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334256" y="44805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4562856" y="513892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/ challenger models: Logistic Regression, Decision Tree, Random Forest, XGBoost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119872" y="43434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19872" y="44805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348472" y="513892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appearing on both sides of a split — trade_id / customer_id never crosses the boundary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SCREENING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by Business Usefulness, Not Raw AUC Alone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6309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84708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3A23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349240" y="18470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331720"/>
          <a:ext cx="45262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822960"/>
                <a:gridCol w="822960"/>
                <a:gridCol w="822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086600" y="47091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top-decile capture + KS — how concentrated risk is at the top of a prioritized collections queue — rather than raw AUC alone. Full ROC/AUC discussion next.</a:t>
            </a:r>
            <a:endParaRPr lang="en-US" sz="103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/ AUC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Discriminates Best Across Every Threshold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84708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3A23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349240" y="18470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086600" y="1828800"/>
            <a:ext cx="4553712" cy="4023360"/>
          </a:xfrm>
          <a:prstGeom prst="roundRect">
            <a:avLst>
              <a:gd name="adj" fmla="val 1818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42632" y="2011680"/>
            <a:ext cx="40416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plots True Positive Rate against False Positive Rate across every possible score threshold. AUC is the area under that curve — 1.0 is perfect separation, 0.5 is random guessing.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= 2 × AUC − 1 holds exactly across all four models — e.g. XGBoost: 2 × 0.7148 − 1 = 0.4296 — an internal consistency check on the reported metrics.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 AUC ranges narrowly (0.698–0.715), typical for a hard, imbalanced early-warning problem. The real separation between models shows up in top-decile capture — see Lift &amp; Gains, next.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&amp; GAINS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Concentrated Risk at the Top of the Ranked List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766560" y="19659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D64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~21×</a:t>
            </a:r>
            <a:endParaRPr lang="en-US" sz="62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between the riskiest and safest score deciles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365760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022592" y="3822192"/>
            <a:ext cx="43342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bad rate is cleanly monotonic end to end, top to bottom — no leakage signature. Feature importance is led by real behavioral stress signals (dpd_max_3m, dpd_avg_3m) plus sensible product effects (secured loans protective; BNPL/unsecured riskier), not by anything identifier-like.</a:t>
            </a: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endParaRPr lang="en-US" sz="11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prioritized collections queue actually depends on: how much risk concentrates in the accounts contacted first.</a:t>
            </a:r>
            <a:endParaRPr lang="en-US" sz="113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Any Account Live — See Exactly What Moves the Needle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854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122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 8 Sliders + 2 Toggles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478024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any input — utilization, payment ratio, DPD, balances, and more — away from a typical account.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5570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4838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Scored Live by the Persisted XGBoost Pipeline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849624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re-runs the actual trained model, not a lookup table. Untouched inputs stay at the dataset's median/mode — the “typical account.”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9286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928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8554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→ After Comparison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221224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an input implies stay consistent automatically (e.g. the dpd slider also updates dpd_avg_3m and account_status); the risk read-out compares directly against the baseline account.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specific slider example is quoted here — see the live dashboard's What-If Simulator for a hands-on before/after run.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 ANALYZER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Benefit Keeps Rising — Capacity, Not Cost, Is the Real Constraint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data-derived defaults — ₹19,241 avoided loss per catch vs. a ₹200 placeholder contact cost — net benefit rises monotonically through 30% capacity.</a:t>
            </a:r>
            <a:endParaRPr lang="en-US" sz="1030" dirty="0"/>
          </a:p>
        </p:txBody>
      </p:sp>
      <p:sp>
        <p:nvSpPr>
          <p:cNvPr id="7" name="Shape 4"/>
          <p:cNvSpPr/>
          <p:nvPr/>
        </p:nvSpPr>
        <p:spPr>
          <a:xfrm>
            <a:off x="649224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720840" y="19751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₹32.8M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57860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optimum at 10% capacity if cost-per-contact rises to ₹5,000 — an interior optimum appears, negative beyond 20% capacity.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492240" y="38862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76200" dist="25400" dir="5400000">
              <a:srgbClr val="1B2140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20840" y="40325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0.70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463600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probability cutoff at ₹5,000-per-false-positive — total cost ₹421.4M — the classic cost-sensitive-classification view.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58704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cost inputs are live-editable on the dashboard page — ₹200/contact is a placeholder, not data-derived.</a:t>
            </a:r>
            <a:endParaRPr lang="en-US" sz="103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DASHBOARD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725912" y="6528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18872" cy="11887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XGBoost at a 20% Collections Capacity Operating Point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3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42.2%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bad accounts captured at the recommended 20% collections capacity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BA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reference: capture at 10% capacity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86600" y="1691640"/>
            <a:ext cx="4553712" cy="1554480"/>
          </a:xfrm>
          <a:prstGeom prst="roundRect">
            <a:avLst>
              <a:gd name="adj" fmla="val 4706"/>
            </a:avLst>
          </a:prstGeom>
          <a:solidFill>
            <a:srgbClr val="2B378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16916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 decision-support ranking for human-driven collections — not an autonomous credit decision.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LIMITATIONS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09728" cy="109728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85876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case-study dataset — not a real lender's live portfolio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986784"/>
            <a:ext cx="109728" cy="109728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28232" y="385876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Uncalibrated, ranking-only probabilities (class-balanced training)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109728" cy="109728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72744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portfolio shocks in scenario simulation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855464"/>
            <a:ext cx="109728" cy="109728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8232" y="472744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fairness / disparate-impact analysis performed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 history &amp; the 26-slide interactive dashboard: README.md / ROADMAP.md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2026-08-29T15:44:24Z</dcterms:created>
  <dcterms:modified xsi:type="dcterms:W3CDTF">2026-08-29T15:44:24Z</dcterms:modified>
</cp:coreProperties>
</file>