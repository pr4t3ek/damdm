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1" i="0" u="none" strike="noStrike">
                <a:solidFill>
                  <a:srgbClr val="1E2761"/>
                </a:solidFill>
                <a:latin typeface="Calibri"/>
              </a:rPr>
              <a:t>Target Event Rate — roll_to_90p_6m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ADCFC"/>
              </a:solidFill>
              <a:effectLst/>
            </c:spPr>
          </c:dPt>
          <c:dPt>
            <c:idx val="1"/>
            <c:bubble3D val="0"/>
            <c:spPr>
              <a:solidFill>
                <a:srgbClr val="D6483F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Did Not Roll  (1,368,513)</c:v>
                </c:pt>
                <c:pt idx="1">
                  <c:v>Rolled to 90+ DPD  (145,532)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1368513</c:v>
                </c:pt>
                <c:pt idx="1">
                  <c:v>145532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445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1" i="0" u="none" strike="noStrike">
                <a:solidFill>
                  <a:srgbClr val="1E2761"/>
                </a:solidFill>
                <a:latin typeface="Calibri"/>
              </a:rPr>
              <a:t>6-Month Label-Window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8C7A"/>
              </a:solidFill>
              <a:effectLst/>
            </c:spPr>
          </c:dPt>
          <c:dPt>
            <c:idx val="1"/>
            <c:bubble3D val="0"/>
            <c:spPr>
              <a:solidFill>
                <a:srgbClr val="D6483F"/>
              </a:solidFill>
              <a:effectLst/>
            </c:spPr>
          </c:dPt>
          <c:dLbls>
            <c:dLbl>
              <c:idx val="0"/>
              <c:numFmt formatCode="0.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.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.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Usable — Full 6-Month Window  (1,232,285)</c:v>
                </c:pt>
                <c:pt idx="1">
                  <c:v>Right-Censored — Excluded  (281,760)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1232285</c:v>
                </c:pt>
                <c:pt idx="1">
                  <c:v>281760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3D445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1" i="0" u="none" strike="noStrike">
                <a:solidFill>
                  <a:srgbClr val="1E2761"/>
                </a:solidFill>
                <a:latin typeface="Calibri"/>
              </a:rPr>
              <a:t>Variable Classification (of 31 total)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Variables</c:v>
                </c:pt>
              </c:strCache>
            </c:strRef>
          </c:tx>
          <c:spPr>
            <a:solidFill>
              <a:srgbClr val="1C8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445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8C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892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648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483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Used as
Model Inputs</c:v>
                  </c:pt>
                  <c:pt idx="1">
                    <c:v>Identifiers /
Keys</c:v>
                  </c:pt>
                  <c:pt idx="2">
                    <c:v>Leakage-Risk
Proxies</c:v>
                  </c:pt>
                  <c:pt idx="3">
                    <c:v>Target / Future
Labels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D445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E7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E2761"/>
                </a:solidFill>
                <a:latin typeface="Calibri"/>
              </a:rPr>
              <a:t>6-Month Roll-to-90+ Rate by Current DPD Stage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Roll Rate</c:v>
                </c:pt>
              </c:strCache>
            </c:strRef>
          </c:tx>
          <c:spPr>
            <a:solidFill>
              <a:srgbClr val="5B77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3D445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7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369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D5F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4F4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483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Current</c:v>
                  </c:pt>
                  <c:pt idx="1">
                    <c:v>Early
(1–29 DPD)</c:v>
                  </c:pt>
                  <c:pt idx="2">
                    <c:v>30+ DPD</c:v>
                  </c:pt>
                  <c:pt idx="3">
                    <c:v>60+ DPD</c:v>
                  </c:pt>
                  <c:pt idx="4">
                    <c:v>90+ DPD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7.86</c:v>
                </c:pt>
                <c:pt idx="1">
                  <c:v>13.85</c:v>
                </c:pt>
                <c:pt idx="2">
                  <c:v>16.37</c:v>
                </c:pt>
                <c:pt idx="3">
                  <c:v>18.46</c:v>
                </c:pt>
                <c:pt idx="4">
                  <c:v>23.11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50" u="none">
                  <a:solidFill>
                    <a:srgbClr val="3D445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  <c:min val="0"/>
        </c:scaling>
        <c:delete val="0"/>
        <c:axPos val="l"/>
        <c:majorGridlines>
          <c:spPr>
            <a:ln w="9525" cap="flat">
              <a:solidFill>
                <a:srgbClr val="E7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E2761"/>
                </a:solidFill>
                <a:latin typeface="Calibri"/>
              </a:rPr>
              <a:t>Correlation Strength with Target, |r|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Correlation</c:v>
                </c:pt>
              </c:strCache>
            </c:strRef>
          </c:tx>
          <c:spPr>
            <a:solidFill>
              <a:srgbClr val="1C8C7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3D445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8C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648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92A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payment_ratio_avg_3m
(protective)</c:v>
                  </c:pt>
                  <c:pt idx="1">
                    <c:v>dpd_avg_3m
(risk)</c:v>
                  </c:pt>
                  <c:pt idx="2">
                    <c:v>Single-Month
Deltas (avg)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0.175</c:v>
                </c:pt>
                <c:pt idx="1">
                  <c:v>0.175</c:v>
                </c:pt>
                <c:pt idx="2">
                  <c:v>0.01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50" u="none">
                  <a:solidFill>
                    <a:srgbClr val="3D445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9525" cap="flat">
              <a:solidFill>
                <a:srgbClr val="E7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(23 mo)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&quot; mo&quot;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39-Month Study Period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(5 mo)</c:v>
                </c:pt>
              </c:strCache>
            </c:strRef>
          </c:tx>
          <c:spPr>
            <a:solidFill>
              <a:srgbClr val="7C93C9"/>
            </a:solidFill>
            <a:effectLst/>
          </c:spPr>
          <c:invertIfNegative val="0"/>
          <c:dLbls>
            <c:numFmt formatCode="0&quot; mo&quot;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39-Month Study Period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OOT Test (5 mo)</c:v>
                </c:pt>
              </c:strCache>
            </c:strRef>
          </c:tx>
          <c:spPr>
            <a:solidFill>
              <a:srgbClr val="E3A23C"/>
            </a:solidFill>
            <a:effectLst/>
          </c:spPr>
          <c:invertIfNegative val="0"/>
          <c:dLbls>
            <c:numFmt formatCode="0&quot; mo&quot;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39-Month Study Period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Excluded — Right-Censored (6 mo)</c:v>
                </c:pt>
              </c:strCache>
            </c:strRef>
          </c:tx>
          <c:spPr>
            <a:solidFill>
              <a:srgbClr val="C7CCDA"/>
            </a:solidFill>
            <a:effectLst/>
          </c:spPr>
          <c:invertIfNegative val="0"/>
          <c:dLbls>
            <c:numFmt formatCode="0&quot; mo&quot;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39-Month Study Period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dLbls>
          <c:numFmt formatCode="0&quot; mo&quot;" sourceLinked="0"/>
          <c:txPr>
            <a:bodyPr/>
            <a:lstStyle/>
            <a:p>
              <a:pPr>
                <a:defRPr b="0" i="0" strike="noStrike" sz="11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"/>
          <c:min val="0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3D445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E2761"/>
                </a:solidFill>
                <a:latin typeface="Calibri"/>
              </a:rPr>
              <a:t>Out-of-Time AUC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OOT 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3D445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A2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Logistic
Regression</c:v>
                  </c:pt>
                  <c:pt idx="1">
                    <c:v>Decision
Tree</c:v>
                  </c:pt>
                  <c:pt idx="2">
                    <c:v>Random
Forest</c:v>
                  </c:pt>
                  <c:pt idx="3">
                    <c:v>XGBoost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0.7122</c:v>
                </c:pt>
                <c:pt idx="1">
                  <c:v>0.6978</c:v>
                </c:pt>
                <c:pt idx="2">
                  <c:v>0.7094</c:v>
                </c:pt>
                <c:pt idx="3">
                  <c:v>0.7148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50" u="none">
                  <a:solidFill>
                    <a:srgbClr val="3D445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9525" cap="flat">
              <a:solidFill>
                <a:srgbClr val="E7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1" i="0" u="none" strike="noStrike">
                <a:solidFill>
                  <a:srgbClr val="1E2761"/>
                </a:solidFill>
                <a:latin typeface="Calibri"/>
              </a:rPr>
              <a:t>OOT Bad Rate by Score Decile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 Rate</c:v>
                </c:pt>
              </c:strCache>
            </c:strRef>
          </c:tx>
          <c:spPr>
            <a:solidFill>
              <a:srgbClr val="1C8C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50" u="none">
                    <a:solidFill>
                      <a:srgbClr val="3D445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8C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6483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Bottom Decile
(Safest 10%)</c:v>
                  </c:pt>
                  <c:pt idx="1">
                    <c:v>Top Decile
(Riskiest 10%)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1.25</c:v>
                </c:pt>
                <c:pt idx="1">
                  <c:v>26.7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50" u="none">
                  <a:solidFill>
                    <a:srgbClr val="3D445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7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1" i="0" u="none" strike="noStrike">
                <a:solidFill>
                  <a:srgbClr val="1E2761"/>
                </a:solidFill>
                <a:latin typeface="Calibri"/>
              </a:rPr>
              <a:t>At 10% Collection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Capacity</c:v>
                </c:pt>
              </c:strCache>
            </c:strRef>
          </c:tx>
          <c:spPr>
            <a:solidFill>
              <a:srgbClr val="E3A23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445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A2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892A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Bad Accounts
Captured</c:v>
                  </c:pt>
                  <c:pt idx="1">
                    <c:v>Dollar Exposure
Covered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3D445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7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1" i="0" u="none" strike="noStrike">
                <a:solidFill>
                  <a:srgbClr val="1E2761"/>
                </a:solidFill>
                <a:latin typeface="Calibri"/>
              </a:rPr>
              <a:t>Net Benefit vs. Collection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Benefit</c:v>
                </c:pt>
              </c:strCache>
            </c:strRef>
          </c:tx>
          <c:spPr>
            <a:solidFill>
              <a:srgbClr val="7C93C9"/>
            </a:solidFill>
            <a:effectLst/>
          </c:spPr>
          <c:invertIfNegative val="0"/>
          <c:dLbls>
            <c:numFmt formatCode="&quot;₹&quot;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D445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C93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A23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5% Capacity</c:v>
                  </c:pt>
                  <c:pt idx="1">
                    <c:v>30% Capacity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243</c:v>
                </c:pt>
              </c:numCache>
            </c:numRef>
          </c:val>
        </c:ser>
        <c:dLbls>
          <c:numFmt formatCode="&quot;₹&quot;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3D445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45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"/>
          <c:min val="0"/>
        </c:scaling>
        <c:delete val="0"/>
        <c:axPos val="l"/>
        <c:majorGridlines>
          <c:spPr>
            <a:ln w="9525" cap="flat">
              <a:solidFill>
                <a:srgbClr val="E7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977640"/>
            <a:ext cx="3657600" cy="3657600"/>
          </a:xfrm>
          <a:prstGeom prst="ellipse">
            <a:avLst/>
          </a:prstGeom>
          <a:ln w="12700">
            <a:solidFill>
              <a:srgbClr val="CADCFC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4434840"/>
            <a:ext cx="2743200" cy="2743200"/>
          </a:xfrm>
          <a:prstGeom prst="ellipse">
            <a:avLst/>
          </a:prstGeom>
          <a:ln w="12700">
            <a:solidFill>
              <a:srgbClr val="CADCFC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0" y="4892040"/>
            <a:ext cx="1828800" cy="1828800"/>
          </a:xfrm>
          <a:prstGeom prst="ellipse">
            <a:avLst/>
          </a:prstGeom>
          <a:ln w="12700">
            <a:solidFill>
              <a:srgbClr val="CADCF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146304" cy="146304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8992" y="139903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202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Serious Delinquency</a:t>
            </a:r>
            <a:endParaRPr lang="en-US" sz="4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Active Credit Accounts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Behavioral Risk Early-Warning System for Proactive Collections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4709160"/>
            <a:ext cx="3429000" cy="438912"/>
          </a:xfrm>
          <a:prstGeom prst="roundRect">
            <a:avLst>
              <a:gd name="adj" fmla="val 50000"/>
            </a:avLst>
          </a:prstGeom>
          <a:solidFill>
            <a:srgbClr val="2B3789"/>
          </a:solidFill>
          <a:ln w="9525">
            <a:solidFill>
              <a:srgbClr val="4451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709160"/>
            <a:ext cx="3429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1.5M+ Trade-Month Observations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4709160"/>
            <a:ext cx="1874520" cy="438912"/>
          </a:xfrm>
          <a:prstGeom prst="roundRect">
            <a:avLst>
              <a:gd name="adj" fmla="val 50000"/>
            </a:avLst>
          </a:prstGeom>
          <a:solidFill>
            <a:srgbClr val="2B3789"/>
          </a:solidFill>
          <a:ln w="9525">
            <a:solidFill>
              <a:srgbClr val="44519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53128" y="4709160"/>
            <a:ext cx="187452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56,539 Accounts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28816" y="4709160"/>
            <a:ext cx="4434840" cy="438912"/>
          </a:xfrm>
          <a:prstGeom prst="roundRect">
            <a:avLst>
              <a:gd name="adj" fmla="val 50000"/>
            </a:avLst>
          </a:prstGeom>
          <a:solidFill>
            <a:srgbClr val="2B3789"/>
          </a:solidFill>
          <a:ln w="9525">
            <a:solidFill>
              <a:srgbClr val="44519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28816" y="4709160"/>
            <a:ext cx="443484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Champion / Challenger Comparison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623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Out-of-time evaluation on real, computed results — nothing in this analysis is hardcoded.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400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Summary  •  August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Reactive Recovery to Proactive Collections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63677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Predict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96596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an active account rolls to 90+ Days Past Due within the next 6 months — target variable roll_to_90p_6m.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27157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Grain of Analysis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044952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account per month (a trade-month observation) — every active account is scored every month.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794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90+ DPD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4123944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where credit losses become largely unrecoverable — the last point where proactive intervention still helps.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9286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487375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Value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5202936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collections from reactive (after default) to proactive (before it) by prioritizing outreach on predicted risk.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52360" y="166420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680960" y="1828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DELINQUENCY PROGRESSION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80960" y="2212848"/>
            <a:ext cx="3703320" cy="566928"/>
          </a:xfrm>
          <a:prstGeom prst="roundRect">
            <a:avLst>
              <a:gd name="adj" fmla="val 16129"/>
            </a:avLst>
          </a:prstGeom>
          <a:solidFill>
            <a:srgbClr val="5B77B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80960" y="22128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276148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680960" y="2944368"/>
            <a:ext cx="3703320" cy="566928"/>
          </a:xfrm>
          <a:prstGeom prst="roundRect">
            <a:avLst>
              <a:gd name="adj" fmla="val 16129"/>
            </a:avLst>
          </a:prstGeom>
          <a:solidFill>
            <a:srgbClr val="83699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680960" y="294436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(1–29 DPD)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680960" y="349300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680960" y="3675888"/>
            <a:ext cx="3703320" cy="566928"/>
          </a:xfrm>
          <a:prstGeom prst="roundRect">
            <a:avLst>
              <a:gd name="adj" fmla="val 16129"/>
            </a:avLst>
          </a:prstGeom>
          <a:solidFill>
            <a:srgbClr val="AD5F6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680960" y="367588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DPD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422452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680960" y="4407408"/>
            <a:ext cx="3703320" cy="566928"/>
          </a:xfrm>
          <a:prstGeom prst="roundRect">
            <a:avLst>
              <a:gd name="adj" fmla="val 16129"/>
            </a:avLst>
          </a:prstGeom>
          <a:solidFill>
            <a:srgbClr val="C84F4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680960" y="440740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DPD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680960" y="495604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680960" y="5138928"/>
            <a:ext cx="3703320" cy="566928"/>
          </a:xfrm>
          <a:prstGeom prst="roundRect">
            <a:avLst>
              <a:gd name="adj" fmla="val 16129"/>
            </a:avLst>
          </a:prstGeom>
          <a:solidFill>
            <a:srgbClr val="D6483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680960" y="51389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 DPD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680960" y="59436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Roll-rate rises at every stage — quantified on slide 6.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Large, Clean, Real-World-Scale Portfolio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929384"/>
            <a:ext cx="20848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1,514,045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Trade-month observations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79776" y="178308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79776" y="1929384"/>
            <a:ext cx="20848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56,539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871216" y="274320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accounts (trade_id)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10912" y="178308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010912" y="1929384"/>
            <a:ext cx="20848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23,405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274320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64992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48640" y="3511296"/>
            <a:ext cx="20848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2511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79776" y="3364992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2779776" y="3511296"/>
            <a:ext cx="20848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871216" y="432511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10912" y="3364992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010912" y="3511296"/>
            <a:ext cx="208483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mo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5102352" y="4325112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Mar 2026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056632"/>
            <a:ext cx="6547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case-study Indian consumer-lending dataset — illustrative of methodology on realistic data, not a real lender's live portfolio.</a:t>
            </a:r>
            <a:endParaRPr lang="en-US" sz="105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7360920" y="1691640"/>
          <a:ext cx="4251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745236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 positive — imbalanced, but workable directly without resampling.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Catching a Right-Censoring Bug Before It Reached the Model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49377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623560" y="1691640"/>
            <a:ext cx="6035040" cy="1965960"/>
          </a:xfrm>
          <a:prstGeom prst="roundRect">
            <a:avLst>
              <a:gd name="adj" fmla="val 372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79592" y="1828800"/>
            <a:ext cx="5522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6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BUG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79592" y="2121408"/>
            <a:ext cx="5522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roll-rate chart showed the event rate collapsing to exactly 0% in the final month — not declining risk, but a 6-month forward-looking label with no room left to observe the outcome. Caught via compute_label_maturity() and flagged red in the Data Quality Dashboard; the affected rows are excluded from training.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38862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AUTOMATED VALIDATION CHECKS — ALL CLEAN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23560" y="4297680"/>
            <a:ext cx="201168" cy="201168"/>
          </a:xfrm>
          <a:prstGeom prst="ellipse">
            <a:avLst/>
          </a:prstGeom>
          <a:solidFill>
            <a:srgbClr val="1C8C7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23560" y="42976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916168" y="423367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account IDs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4297680"/>
            <a:ext cx="201168" cy="201168"/>
          </a:xfrm>
          <a:prstGeom prst="ellipse">
            <a:avLst/>
          </a:prstGeom>
          <a:solidFill>
            <a:srgbClr val="1C8C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41080" y="42976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933688" y="423367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Utilization-ratio anomalies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23560" y="4681728"/>
            <a:ext cx="201168" cy="201168"/>
          </a:xfrm>
          <a:prstGeom prst="ellipse">
            <a:avLst/>
          </a:prstGeom>
          <a:solidFill>
            <a:srgbClr val="1C8C7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623560" y="4681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916168" y="4617720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 anomalies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641080" y="4681728"/>
            <a:ext cx="201168" cy="201168"/>
          </a:xfrm>
          <a:prstGeom prst="ellipse">
            <a:avLst/>
          </a:prstGeom>
          <a:solidFill>
            <a:srgbClr val="1C8C7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41080" y="4681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933688" y="4617720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Payment-ratio anomalies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23560" y="5065776"/>
            <a:ext cx="201168" cy="201168"/>
          </a:xfrm>
          <a:prstGeom prst="ellipse">
            <a:avLst/>
          </a:prstGeom>
          <a:solidFill>
            <a:srgbClr val="1C8C7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623560" y="50657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916168" y="5001768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dates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8641080" y="5065776"/>
            <a:ext cx="201168" cy="201168"/>
          </a:xfrm>
          <a:prstGeom prst="ellipse">
            <a:avLst/>
          </a:prstGeom>
          <a:solidFill>
            <a:srgbClr val="1C8C7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641080" y="50657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933688" y="5001768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target values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23560" y="5449824"/>
            <a:ext cx="201168" cy="201168"/>
          </a:xfrm>
          <a:prstGeom prst="ellipse">
            <a:avLst/>
          </a:prstGeom>
          <a:solidFill>
            <a:srgbClr val="1C8C7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623560" y="5449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916168" y="5385816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balances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623560" y="59893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values · 0 duplicate IDs · 0 out-of-range values found.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&amp; GOVERNANCE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Variables Reviewed — Only Safe, Pre-Outcome Signals Used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2B378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5727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only information available on or before the observation date. Future outcomes must be used only as targets.”  — data dictionary golden rule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2606040"/>
          <a:ext cx="65836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360920" y="273405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1C8C7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07808" y="2642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— 18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291693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candidate features + 3 behavioral flags: the final modeling feature set.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7360920" y="360273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892A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07808" y="35112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 / Keys — 5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607808" y="378561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observation_id, trade_id, customer_id, lender_id, month_end_date — join/tracking only.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7360920" y="447141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D6483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07808" y="43799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Leakage-Risk Proxies — 4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607808" y="46542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pd_12m_proxy, expected_loss_estimate, ead_estimate, lgd_estimate — circularity risk, excluded.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7360920" y="534009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D6483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607808" y="52486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/ Future Labels — 4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607808" y="552297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roll_to_90p_6m + 3 secondary targets — future outcomes, used only as labels.</a:t>
            </a:r>
            <a:endParaRPr lang="en-US" sz="103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Roll-to-90+ Risk Rises Monotonically with Current DPD Stage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73152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19202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092440" y="2084832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8C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88–91%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 rate for already-delinquent accounts, within 3 months (cure_3m)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429768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at-risk accounts recover often — collections timing and prioritization matter as much as detection.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Behavioral Signals Carry Far More Predictive Power</a:t>
            </a:r>
            <a:endParaRPr lang="en-US" sz="2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920240"/>
            <a:ext cx="4023360" cy="2331720"/>
          </a:xfrm>
          <a:prstGeom prst="roundRect">
            <a:avLst>
              <a:gd name="adj" fmla="val 313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635240" y="202996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7889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behavioral features, over a 3-month trailing window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18120" y="3566160"/>
            <a:ext cx="1129284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18120" y="3566160"/>
            <a:ext cx="11292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057132" y="3566160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057132" y="3566160"/>
            <a:ext cx="12664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18120" y="3950208"/>
            <a:ext cx="1472184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18120" y="395020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400032" y="3950208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400032" y="3950208"/>
            <a:ext cx="1197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818120" y="4334256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818120" y="4334256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262872" y="4334256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262872" y="4334256"/>
            <a:ext cx="12664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Rolling/stress features dominate — single-month deltas carry almost no signal (all |r| &lt; 0.01).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True Out-of-Time Split — Never Random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110642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811512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2026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48640" y="44805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13892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inputs (18 base + 19 engineered behavioral features)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334256" y="434340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34256" y="44805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562856" y="513892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/ challenger models: Logistic Regression, Decision Tree, Random Forest, XGBoost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8119872" y="434340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119872" y="44805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348472" y="513892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appearing on both sides of a split — trade_id / customer_id never crosses the boundary</a:t>
            </a:r>
            <a:endParaRPr lang="en-US" sz="108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 Leads on Every Metric That Matters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28800"/>
          <a:ext cx="63093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349240" y="1847088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E3A2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349240" y="184708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331720"/>
          <a:ext cx="452628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  <a:gridCol w="868680"/>
                <a:gridCol w="914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Top-Decile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9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086600" y="470916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top-decile capture + KS (business usefulness), not raw AUC alone — see slide 10.</a:t>
            </a:r>
            <a:endParaRPr lang="en-US" sz="103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Rank-Ordering: the Riskiest Decile Is ~21× the Safest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28800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766560" y="19659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D648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~21×</a:t>
            </a:r>
            <a:endParaRPr lang="en-US" sz="62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2971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between the riskiest and safest score deciles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766560" y="3657600"/>
            <a:ext cx="4846320" cy="2377440"/>
          </a:xfrm>
          <a:prstGeom prst="roundRect">
            <a:avLst>
              <a:gd name="adj" fmla="val 307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5400000">
              <a:srgbClr val="1B214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022592" y="3822192"/>
            <a:ext cx="433425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Decile bad rate is cleanly monotonic end to end — no leakage signature. Feature importance is led by real behavioral stress signals (dpd_max_3m, dpd_avg_3m) plus sensible product effects, not by anything identifier-like.</a:t>
            </a:r>
            <a:endParaRPr lang="en-US" sz="1130" dirty="0"/>
          </a:p>
          <a:p>
            <a:pPr indent="0" marL="0">
              <a:lnSpc>
                <a:spcPct val="120000"/>
              </a:lnSpc>
              <a:buNone/>
            </a:pPr>
            <a:endParaRPr lang="en-US" sz="11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3D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are ranked by top-decile capture + KS (business usefulness) rather than raw AUC alone, because a prioritized collections queue lives or dies on how concentrated risk is at the very top of the list.</a:t>
            </a:r>
            <a:endParaRPr lang="en-US" sz="113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Risk-Ranking Concentrates Bad Accounts, Not Dollar Exposure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28800"/>
          <a:ext cx="5349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66928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covered shown at its reported ceiling — under 3%.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63640" y="1828800"/>
          <a:ext cx="5349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566928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monotonically through 30% — avoided loss per catch (₹19,241, data-derived) far outweighs contact cost.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1051560"/>
            <a:ext cx="111556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risk-ranked queue and an exposure-ranked queue are not the same list — high-risk accounts skew toward smaller balances.</a:t>
            </a:r>
            <a:endParaRPr lang="en-US" sz="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ANALYTICS DASHBOARD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25912" y="65288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18872" cy="118872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XGBoost at a 20% Collections Capacity Operating Point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3A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42.2%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bad accounts captured at the recommended 20% collections capacity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8745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BA6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89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reference: capture at 10% capacity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86600" y="1691640"/>
            <a:ext cx="4553712" cy="1554480"/>
          </a:xfrm>
          <a:prstGeom prst="roundRect">
            <a:avLst>
              <a:gd name="adj" fmla="val 4706"/>
            </a:avLst>
          </a:prstGeom>
          <a:solidFill>
            <a:srgbClr val="2B378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60920" y="169164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 decision-support ranking for human-driven collections — not an autonomous credit decision.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0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3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LIMITATIONS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09728" cy="109728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85876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case-study dataset — not a real lender's live portfolio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3986784"/>
            <a:ext cx="109728" cy="109728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28232" y="385876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Uncalibrated, ranking-only probabilities (class-balanced training)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55464"/>
            <a:ext cx="109728" cy="109728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47274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portfolio shocks in scenario simulation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855464"/>
            <a:ext cx="109728" cy="109728"/>
          </a:xfrm>
          <a:prstGeom prst="ellipse">
            <a:avLst/>
          </a:prstGeom>
          <a:solidFill>
            <a:srgbClr val="E3A2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28232" y="47274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fairness / disparate-impact analysis performed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C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build history &amp; the 26-slide interactive dashboard: README.md / ROADMAP.md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2026-08-29T15:22:02Z</dcterms:created>
  <dcterms:modified xsi:type="dcterms:W3CDTF">2026-08-29T15:22:02Z</dcterms:modified>
</cp:coreProperties>
</file>