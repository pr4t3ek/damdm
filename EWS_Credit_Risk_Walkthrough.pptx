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frame. The four numbers are live from the application, not typed in by hand. The whole talk is one continuous click-through of the app's Presentation section — 11 screens, ending on the recommendation.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business problem. Emphasise 'active' accounts and the six-month forward window. The 9.6% base rate is the number to keep in mind for every metric that follows.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point is the panel structure — same trade_id repeating down the rows. That is why a random train/test split leaks, which is the next-but-one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methodological catch worth leading with — it is a real finding, not textbook filler. If it were left in, the monthly roll rate collapses to zero at the end of the window and reads as risk improving.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independent reasons a random split fails here. The chart is the censoring finding from the previous slide, drawn: blue is usable, red dotted is the excluded 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defensible selection criterion: chosen on the metrics that map to the actual decision, not the biggest number in one column. Flag the train/test gap honestly if asked — XGBoost trains at 0.740 vs 0.7148 on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same result as the AUC number, restated in the language a collections manager uses. Point at the gap between the solid curve and the diagonal.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this one live: drag the DPD slider from 0 to 60 and pause on the number. It proves the model is really running, not a screenshot.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Worth naming that the shock propagates into the rolling features — that was a real bug found and fixed during the build; the first version only shocked the raw snapshot and barely moved anything.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bridge from model metrics to an operational decision. The queue is ranked, so capacity is the only dial the team has to 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 panellist challenges the ₹200 contact cost, change it on stage — that is exactly what the page is for. Note that net benefit is still rising at 30%, so the real constraint here is operational capacity, not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classic cost-sensitive classification view. The point to make: the 0.5 default that ships with every classifier is almost never the right operating point once real costs are attached.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stating the scope limits out loud before anyone has to ask for them. That is what makes the recommendation credible rather than oversold.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frame. If asked about anything not covered, it is one click away in the app's Appendix — 15 further screens.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2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Serious Delinquency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Active Credit Accounts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834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E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behavioural Early Warning System for proactive collections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6FA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1,514,045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389120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E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account-month observations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3493008" y="3794760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6FA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56,539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3493008" y="4389120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E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credit accounts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254496" y="3794760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6FA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0.7148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6254496" y="4389120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E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out-of-time AUC, XGBoost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9015984" y="3794760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6FA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25.2%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9015984" y="4389120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E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defaults in the top decile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58064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49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application walkthrough  ·  11 screens  ·  every figure computed from the real dataset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420624" cy="420624"/>
          </a:xfrm>
          <a:prstGeom prst="ellipse">
            <a:avLst/>
          </a:prstGeom>
          <a:solidFill>
            <a:srgbClr val="132242"/>
          </a:solidFill>
          <a:ln w="12700">
            <a:solidFill>
              <a:srgbClr val="13224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329184"/>
            <a:ext cx="9601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2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Overview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8696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question, asked of every active account: will it roll to 90+ DPD within the next six months?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5566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7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Early Warning System  ·  Executive Overview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094415" y="645566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7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pic>
        <p:nvPicPr>
          <p:cNvPr id="8" name="Image 0" descr="/tmp/claude-0/-home-user-DamDM/ed33eac7-9cd8-5572-9b68-27c635d41480/scratchpad/shots/01a_overview_kp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89888"/>
            <a:ext cx="11094415" cy="111333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2558090"/>
            <a:ext cx="110944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7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KPIs, computed live from behavior_risk_mart</a:t>
            </a:r>
            <a:endParaRPr lang="en-US" sz="850" dirty="0"/>
          </a:p>
        </p:txBody>
      </p:sp>
      <p:pic>
        <p:nvPicPr>
          <p:cNvPr id="10" name="Image 1" descr="/tmp/claude-0/-home-user-DamDM/ed33eac7-9cd8-5572-9b68-27c635d41480/scratchpad/shots/01b_overview_objecti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34640"/>
            <a:ext cx="5989320" cy="253355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" y="5432201"/>
            <a:ext cx="5989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7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&amp; prediction target, as defined in the application</a:t>
            </a:r>
            <a:endParaRPr lang="en-US" sz="850" dirty="0"/>
          </a:p>
        </p:txBody>
      </p:sp>
      <p:sp>
        <p:nvSpPr>
          <p:cNvPr id="12" name="Text 8"/>
          <p:cNvSpPr txBox="1"/>
          <p:nvPr/>
        </p:nvSpPr>
        <p:spPr>
          <a:xfrm>
            <a:off x="6903720" y="2834640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2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6903720" y="3227832"/>
            <a:ext cx="47365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reporting confirms an account has already gone bad. This flags it up to six months earlier.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9.6% of account-months end in a 90+ DPD roll — the base rate any model has to beat.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is a prioritised ranking for collections outreach, not an automated credit decision.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903720" y="5504688"/>
            <a:ext cx="4736592" cy="841248"/>
          </a:xfrm>
          <a:prstGeom prst="roundRect">
            <a:avLst>
              <a:gd name="adj" fmla="val 6522"/>
            </a:avLst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050024" y="5596128"/>
            <a:ext cx="4443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100" b="1" dirty="0">
                <a:solidFill>
                  <a:srgbClr val="2F6F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months</a:t>
            </a:r>
            <a:endParaRPr lang="en-US" sz="2100" dirty="0"/>
          </a:p>
        </p:txBody>
      </p:sp>
      <p:sp>
        <p:nvSpPr>
          <p:cNvPr id="16" name="Text 12"/>
          <p:cNvSpPr txBox="1"/>
          <p:nvPr/>
        </p:nvSpPr>
        <p:spPr>
          <a:xfrm>
            <a:off x="7050024" y="5975787"/>
            <a:ext cx="4443984" cy="336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warning before the account is formally delinquent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420624" cy="420624"/>
          </a:xfrm>
          <a:prstGeom prst="ellipse">
            <a:avLst/>
          </a:prstGeom>
          <a:solidFill>
            <a:srgbClr val="132242"/>
          </a:solidFill>
          <a:ln w="12700">
            <a:solidFill>
              <a:srgbClr val="13224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329184"/>
            <a:ext cx="9601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2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Overview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8696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million account-months — the same accounts observed again and again. That repetition is what makes the signal behavioural.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5566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7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Early Warning System  ·  Data Overview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094415" y="645566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7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pic>
        <p:nvPicPr>
          <p:cNvPr id="8" name="Image 0" descr="/tmp/claude-0/-home-user-DamDM/ed33eac7-9cd8-5572-9b68-27c635d41480/scratchpad/shots/02a_data_kp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89888"/>
            <a:ext cx="11094415" cy="105470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2499454"/>
            <a:ext cx="110944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7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shape and coverage</a:t>
            </a:r>
            <a:endParaRPr lang="en-US" sz="850" dirty="0"/>
          </a:p>
        </p:txBody>
      </p:sp>
      <p:pic>
        <p:nvPicPr>
          <p:cNvPr id="10" name="Image 1" descr="/tmp/claude-0/-home-user-DamDM/ed33eac7-9cd8-5572-9b68-27c635d41480/scratchpad/shots/02b_data_explor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88920"/>
            <a:ext cx="11094415" cy="223903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" y="5101106"/>
            <a:ext cx="110944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7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Explorer · one account followed month by month — the panel structure the model learns from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548640" y="5504688"/>
            <a:ext cx="3511296" cy="749808"/>
          </a:xfrm>
          <a:prstGeom prst="roundRect">
            <a:avLst>
              <a:gd name="adj" fmla="val 7317"/>
            </a:avLst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13232" y="5605272"/>
            <a:ext cx="3182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</a:t>
            </a:r>
            <a:endParaRPr lang="en-US" sz="850" dirty="0"/>
          </a:p>
        </p:txBody>
      </p:sp>
      <p:sp>
        <p:nvSpPr>
          <p:cNvPr id="14" name="Text 10"/>
          <p:cNvSpPr txBox="1"/>
          <p:nvPr/>
        </p:nvSpPr>
        <p:spPr>
          <a:xfrm>
            <a:off x="713232" y="5824728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account per month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325112" y="5504688"/>
            <a:ext cx="3511296" cy="749808"/>
          </a:xfrm>
          <a:prstGeom prst="roundRect">
            <a:avLst>
              <a:gd name="adj" fmla="val 7317"/>
            </a:avLst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489704" y="5605272"/>
            <a:ext cx="3182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</a:t>
            </a:r>
            <a:endParaRPr lang="en-US" sz="850" dirty="0"/>
          </a:p>
        </p:txBody>
      </p:sp>
      <p:sp>
        <p:nvSpPr>
          <p:cNvPr id="17" name="Text 13"/>
          <p:cNvSpPr txBox="1"/>
          <p:nvPr/>
        </p:nvSpPr>
        <p:spPr>
          <a:xfrm>
            <a:off x="4489704" y="5824728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2023 – Mar 2026, 39 months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8101584" y="5504688"/>
            <a:ext cx="3511296" cy="749808"/>
          </a:xfrm>
          <a:prstGeom prst="roundRect">
            <a:avLst>
              <a:gd name="adj" fmla="val 7317"/>
            </a:avLst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8266176" y="5605272"/>
            <a:ext cx="3182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</a:t>
            </a:r>
            <a:endParaRPr lang="en-US" sz="850" dirty="0"/>
          </a:p>
        </p:txBody>
      </p:sp>
      <p:sp>
        <p:nvSpPr>
          <p:cNvPr id="20" name="Text 16"/>
          <p:cNvSpPr txBox="1"/>
          <p:nvPr/>
        </p:nvSpPr>
        <p:spPr>
          <a:xfrm>
            <a:off x="8266176" y="5824728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~27 monthly observations per account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420624" cy="420624"/>
          </a:xfrm>
          <a:prstGeom prst="ellipse">
            <a:avLst/>
          </a:prstGeom>
          <a:solidFill>
            <a:srgbClr val="132242"/>
          </a:solidFill>
          <a:ln w="12700">
            <a:solidFill>
              <a:srgbClr val="13224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329184"/>
            <a:ext cx="9601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2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8696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automated check the pipeline runs before a single model is trained — including one finding that changes how the data must be used.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5566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7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Early Warning System  ·  Data Quality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094415" y="645566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7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pic>
        <p:nvPicPr>
          <p:cNvPr id="8" name="Image 0" descr="/tmp/claude-0/-home-user-DamDM/ed33eac7-9cd8-5572-9b68-27c635d41480/scratchpad/shots/03a_quality_chec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89888"/>
            <a:ext cx="6903720" cy="2630991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4041648"/>
            <a:ext cx="6903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7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checks, run live against the full dataset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7726680" y="1389888"/>
            <a:ext cx="3913632" cy="2633472"/>
          </a:xfrm>
          <a:prstGeom prst="roundRect">
            <a:avLst>
              <a:gd name="adj" fmla="val 2083"/>
            </a:avLst>
          </a:prstGeom>
          <a:solidFill>
            <a:srgbClr val="FBEDEA"/>
          </a:solidFill>
          <a:ln w="12700">
            <a:solidFill>
              <a:srgbClr val="FBEDE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909560" y="1536192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catch we found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909560" y="1901952"/>
            <a:ext cx="354787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label looks six months forward, so the most recent months cannot have a valid outcome yet — an account seen in December has not had six months to roll.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right-censoring, not missing data. Left in, it looks like risk suddenly improved. It is excluded from every split instead.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4754880"/>
            <a:ext cx="3511296" cy="1188720"/>
          </a:xfrm>
          <a:prstGeom prst="roundRect">
            <a:avLst>
              <a:gd name="adj" fmla="val 4615"/>
            </a:avLst>
          </a:prstGeom>
          <a:solidFill>
            <a:srgbClr val="E6F4EC"/>
          </a:solidFill>
          <a:ln w="12700">
            <a:solidFill>
              <a:srgbClr val="E6F4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94944" y="4846320"/>
            <a:ext cx="3218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100" b="1" dirty="0">
                <a:solidFill>
                  <a:srgbClr val="1A9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1,232,285</a:t>
            </a:r>
            <a:endParaRPr lang="en-US" sz="2100" dirty="0"/>
          </a:p>
        </p:txBody>
      </p:sp>
      <p:sp>
        <p:nvSpPr>
          <p:cNvPr id="15" name="Text 12"/>
          <p:cNvSpPr txBox="1"/>
          <p:nvPr/>
        </p:nvSpPr>
        <p:spPr>
          <a:xfrm>
            <a:off x="694944" y="5420563"/>
            <a:ext cx="3218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rows kept for modelling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325112" y="4754880"/>
            <a:ext cx="3511296" cy="1188720"/>
          </a:xfrm>
          <a:prstGeom prst="roundRect">
            <a:avLst>
              <a:gd name="adj" fmla="val 4615"/>
            </a:avLst>
          </a:prstGeom>
          <a:solidFill>
            <a:srgbClr val="FBEDEA"/>
          </a:solidFill>
          <a:ln w="12700">
            <a:solidFill>
              <a:srgbClr val="FBED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471416" y="4846320"/>
            <a:ext cx="3218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1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281,760</a:t>
            </a:r>
            <a:endParaRPr lang="en-US" sz="2100" dirty="0"/>
          </a:p>
        </p:txBody>
      </p:sp>
      <p:sp>
        <p:nvSpPr>
          <p:cNvPr id="18" name="Text 15"/>
          <p:cNvSpPr txBox="1"/>
          <p:nvPr/>
        </p:nvSpPr>
        <p:spPr>
          <a:xfrm>
            <a:off x="4471416" y="5420563"/>
            <a:ext cx="3218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right-censored rows excluded (18.6%)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8101584" y="4754880"/>
            <a:ext cx="3538728" cy="1188720"/>
          </a:xfrm>
          <a:prstGeom prst="roundRect">
            <a:avLst>
              <a:gd name="adj" fmla="val 4615"/>
            </a:avLst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247888" y="484632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100" b="1" dirty="0">
                <a:solidFill>
                  <a:srgbClr val="1322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 2025</a:t>
            </a:r>
            <a:endParaRPr lang="en-US" sz="2100" dirty="0"/>
          </a:p>
        </p:txBody>
      </p:sp>
      <p:sp>
        <p:nvSpPr>
          <p:cNvPr id="21" name="Text 18"/>
          <p:cNvSpPr txBox="1"/>
          <p:nvPr/>
        </p:nvSpPr>
        <p:spPr>
          <a:xfrm>
            <a:off x="8247888" y="5420563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month with a complete label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420624" cy="420624"/>
          </a:xfrm>
          <a:prstGeom prst="ellipse">
            <a:avLst/>
          </a:prstGeom>
          <a:solidFill>
            <a:srgbClr val="132242"/>
          </a:solidFill>
          <a:ln w="12700">
            <a:solidFill>
              <a:srgbClr val="13224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329184"/>
            <a:ext cx="9601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2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Out-of-Time Split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8696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the past, test on the future — the only split that does not leak on data like this.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5566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7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Early Warning System  ·  OOT Split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094415" y="645566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7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pic>
        <p:nvPicPr>
          <p:cNvPr id="8" name="Image 0" descr="/tmp/claude-0/-home-user-DamDM/ed33eac7-9cd8-5572-9b68-27c635d41480/scratchpad/shots/04b_split_kp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89888"/>
            <a:ext cx="11094415" cy="102064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2465397"/>
            <a:ext cx="110944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7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maturity, computed from the data window</a:t>
            </a:r>
            <a:endParaRPr lang="en-US" sz="850" dirty="0"/>
          </a:p>
        </p:txBody>
      </p:sp>
      <p:pic>
        <p:nvPicPr>
          <p:cNvPr id="10" name="Image 1" descr="/tmp/claude-0/-home-user-DamDM/ed33eac7-9cd8-5572-9b68-27c635d41480/scratchpad/shots/04a_split_matur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34640"/>
            <a:ext cx="6903720" cy="167973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" y="4587529"/>
            <a:ext cx="6903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7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event rate — the dotted red line is the censored tail, excluded from training</a:t>
            </a:r>
            <a:endParaRPr lang="en-US" sz="850" dirty="0"/>
          </a:p>
        </p:txBody>
      </p:sp>
      <p:sp>
        <p:nvSpPr>
          <p:cNvPr id="12" name="Text 8"/>
          <p:cNvSpPr txBox="1"/>
          <p:nvPr/>
        </p:nvSpPr>
        <p:spPr>
          <a:xfrm>
            <a:off x="7726680" y="2834640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2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not a random split?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7726680" y="3227832"/>
            <a:ext cx="39136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label looks forward, so a random split can put an account's March row in training and its own April row in test.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data: the same account appears ~27 times, so its months are correlated even without leaking the label directly.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5138928"/>
            <a:ext cx="11094415" cy="786384"/>
          </a:xfrm>
          <a:prstGeom prst="roundRect">
            <a:avLst>
              <a:gd name="adj" fmla="val 6977"/>
            </a:avLst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49808" y="523036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749808" y="546811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2023 – Nov 2024   ·   802,557 rows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4379976" y="523036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850" dirty="0"/>
          </a:p>
        </p:txBody>
      </p:sp>
      <p:sp>
        <p:nvSpPr>
          <p:cNvPr id="18" name="Text 14"/>
          <p:cNvSpPr txBox="1"/>
          <p:nvPr/>
        </p:nvSpPr>
        <p:spPr>
          <a:xfrm>
            <a:off x="4379976" y="546811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2024 – Apr 2025   ·   207,824 rows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8010144" y="523036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(OOT)</a:t>
            </a:r>
            <a:endParaRPr lang="en-US" sz="850" dirty="0"/>
          </a:p>
        </p:txBody>
      </p:sp>
      <p:sp>
        <p:nvSpPr>
          <p:cNvPr id="20" name="Text 16"/>
          <p:cNvSpPr txBox="1"/>
          <p:nvPr/>
        </p:nvSpPr>
        <p:spPr>
          <a:xfrm>
            <a:off x="8010144" y="546811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2025 – Sep 2025   ·   221,904 rows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420624" cy="420624"/>
          </a:xfrm>
          <a:prstGeom prst="ellipse">
            <a:avLst/>
          </a:prstGeom>
          <a:solidFill>
            <a:srgbClr val="132242"/>
          </a:solidFill>
          <a:ln w="12700">
            <a:solidFill>
              <a:srgbClr val="13224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329184"/>
            <a:ext cx="9601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2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Screening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8696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models, one out-of-time test set, identical imbalance handling. XGBoost wins — and not only on AUC.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5566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7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Early Warning System  ·  Model Screening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094415" y="645566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7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pic>
        <p:nvPicPr>
          <p:cNvPr id="8" name="Image 0" descr="/tmp/claude-0/-home-user-DamDM/ed33eac7-9cd8-5572-9b68-27c635d41480/scratchpad/shots/05a_screening_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89888"/>
            <a:ext cx="11094415" cy="1557329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3002081"/>
            <a:ext cx="110944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7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 / challenger comparison on the out-of-time test set</a:t>
            </a:r>
            <a:endParaRPr lang="en-US" sz="850" dirty="0"/>
          </a:p>
        </p:txBody>
      </p:sp>
      <p:pic>
        <p:nvPicPr>
          <p:cNvPr id="10" name="Image 1" descr="/tmp/claude-0/-home-user-DamDM/ed33eac7-9cd8-5572-9b68-27c635d41480/scratchpad/shots/05b_screening_au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364992"/>
            <a:ext cx="3533937" cy="1938528"/>
          </a:xfrm>
          <a:prstGeom prst="rect">
            <a:avLst/>
          </a:prstGeom>
        </p:spPr>
      </p:pic>
      <p:pic>
        <p:nvPicPr>
          <p:cNvPr id="11" name="Image 2" descr="/tmp/claude-0/-home-user-DamDM/ed33eac7-9cd8-5572-9b68-27c635d41480/scratchpad/shots/05c_screening_captu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3364992"/>
            <a:ext cx="3456395" cy="193852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48640" y="5358384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7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 AUC by model</a:t>
            </a:r>
            <a:endParaRPr lang="en-US" sz="850" dirty="0"/>
          </a:p>
        </p:txBody>
      </p:sp>
      <p:sp>
        <p:nvSpPr>
          <p:cNvPr id="13" name="Text 8"/>
          <p:cNvSpPr txBox="1"/>
          <p:nvPr/>
        </p:nvSpPr>
        <p:spPr>
          <a:xfrm>
            <a:off x="4297680" y="5358384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7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Top-decile capture by model</a:t>
            </a:r>
            <a:endParaRPr lang="en-US" sz="850" dirty="0"/>
          </a:p>
        </p:txBody>
      </p:sp>
      <p:sp>
        <p:nvSpPr>
          <p:cNvPr id="14" name="Text 9"/>
          <p:cNvSpPr txBox="1"/>
          <p:nvPr/>
        </p:nvSpPr>
        <p:spPr>
          <a:xfrm>
            <a:off x="8092440" y="3364992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2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Selected on the operational metrics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8092440" y="3758184"/>
            <a:ext cx="35478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leads on KS (0.3065) and top-decile capture (25.2%), not just AUC.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are the metrics that map to a fixed-capacity collections queue.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stays as the interpretable baseline — it is only 0.0026 AUC behind.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420624" cy="420624"/>
          </a:xfrm>
          <a:prstGeom prst="ellipse">
            <a:avLst/>
          </a:prstGeom>
          <a:solidFill>
            <a:srgbClr val="132242"/>
          </a:solidFill>
          <a:ln w="12700">
            <a:solidFill>
              <a:srgbClr val="13224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329184"/>
            <a:ext cx="9601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2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Lift &amp; Gains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8696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every account by risk, and the riskiest 10% already contains a quarter of everyone who will default.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5566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7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Early Warning System  ·  Lift &amp; Gains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094415" y="645566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7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pic>
        <p:nvPicPr>
          <p:cNvPr id="8" name="Image 0" descr="/tmp/claude-0/-home-user-DamDM/ed33eac7-9cd8-5572-9b68-27c635d41480/scratchpad/shots/06b_gains_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89888"/>
            <a:ext cx="3383280" cy="184979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329184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7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gains — model vs. random</a:t>
            </a:r>
            <a:endParaRPr lang="en-US" sz="850" dirty="0"/>
          </a:p>
        </p:txBody>
      </p:sp>
      <p:pic>
        <p:nvPicPr>
          <p:cNvPr id="10" name="Image 1" descr="/tmp/claude-0/-home-user-DamDM/ed33eac7-9cd8-5572-9b68-27c635d41480/scratchpad/shots/06a_lift_cur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1389888"/>
            <a:ext cx="3383280" cy="186921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160520" y="331012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7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by decile</a:t>
            </a:r>
            <a:endParaRPr lang="en-US" sz="850" dirty="0"/>
          </a:p>
        </p:txBody>
      </p:sp>
      <p:pic>
        <p:nvPicPr>
          <p:cNvPr id="12" name="Image 2" descr="/tmp/claude-0/-home-user-DamDM/ed33eac7-9cd8-5572-9b68-27c635d41480/scratchpad/shots/06c_decile_tab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703320"/>
            <a:ext cx="6995160" cy="2214359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48640" y="5981687"/>
            <a:ext cx="6995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7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Decile table, out-of-time test set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7818120" y="1389888"/>
            <a:ext cx="3822192" cy="1024128"/>
          </a:xfrm>
          <a:prstGeom prst="roundRect">
            <a:avLst>
              <a:gd name="adj" fmla="val 5357"/>
            </a:avLst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7964424" y="1481328"/>
            <a:ext cx="3529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100" b="1" dirty="0">
                <a:solidFill>
                  <a:srgbClr val="2F6F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25.2%</a:t>
            </a:r>
            <a:endParaRPr lang="en-US" sz="2100" dirty="0"/>
          </a:p>
        </p:txBody>
      </p:sp>
      <p:sp>
        <p:nvSpPr>
          <p:cNvPr id="16" name="Text 11"/>
          <p:cNvSpPr txBox="1"/>
          <p:nvPr/>
        </p:nvSpPr>
        <p:spPr>
          <a:xfrm>
            <a:off x="7964424" y="1963400"/>
            <a:ext cx="3529584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defaults captured in the top decile</a:t>
            </a:r>
            <a:endParaRPr lang="en-US" sz="950" dirty="0"/>
          </a:p>
        </p:txBody>
      </p:sp>
      <p:sp>
        <p:nvSpPr>
          <p:cNvPr id="17" name="Text 12"/>
          <p:cNvSpPr txBox="1"/>
          <p:nvPr/>
        </p:nvSpPr>
        <p:spPr>
          <a:xfrm>
            <a:off x="7818120" y="2651760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2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curves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7818120" y="3044952"/>
            <a:ext cx="38221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dashed diagonal is what undirected outreach would achieve.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the curves is the value the model adds.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decile runs at ~2.5x lift over random selection.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420624" cy="420624"/>
          </a:xfrm>
          <a:prstGeom prst="ellipse">
            <a:avLst/>
          </a:prstGeom>
          <a:solidFill>
            <a:srgbClr val="132242"/>
          </a:solidFill>
          <a:ln w="12700">
            <a:solidFill>
              <a:srgbClr val="13224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329184"/>
            <a:ext cx="9601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2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What-If Simulator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8696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slider re-scores through the real trained pipeline — live, nothing precomputed.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5566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7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Early Warning System  ·  What-If Simulator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094415" y="645566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7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pic>
        <p:nvPicPr>
          <p:cNvPr id="8" name="Image 0" descr="/tmp/claude-0/-home-user-DamDM/ed33eac7-9cd8-5572-9b68-27c635d41480/scratchpad/shots/07a_sim_inpu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89888"/>
            <a:ext cx="2926080" cy="314294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45720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7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inputs · 8 sliders, 2 toggles</a:t>
            </a:r>
            <a:endParaRPr lang="en-US" sz="850" dirty="0"/>
          </a:p>
        </p:txBody>
      </p:sp>
      <p:pic>
        <p:nvPicPr>
          <p:cNvPr id="10" name="Image 1" descr="/tmp/claude-0/-home-user-DamDM/ed33eac7-9cd8-5572-9b68-27c635d41480/scratchpad/shots/07b_sim_result_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389888"/>
            <a:ext cx="3886200" cy="268755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749040" y="41148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7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Sliders at their default, typical-account settings</a:t>
            </a:r>
            <a:endParaRPr lang="en-US" sz="850" dirty="0"/>
          </a:p>
        </p:txBody>
      </p:sp>
      <p:pic>
        <p:nvPicPr>
          <p:cNvPr id="12" name="Image 2" descr="/tmp/claude-0/-home-user-DamDM/ed33eac7-9cd8-5572-9b68-27c635d41480/scratchpad/shots/07c_sim_result_dpd6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389888"/>
            <a:ext cx="3822192" cy="2687899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818120" y="4087368"/>
            <a:ext cx="3822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7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account with current DPD moved to 60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548640" y="4983480"/>
            <a:ext cx="11094415" cy="1133856"/>
          </a:xfrm>
          <a:prstGeom prst="roundRect">
            <a:avLst>
              <a:gd name="adj" fmla="val 4839"/>
            </a:avLst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749808" y="51023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2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input, 29.7 percentage points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749808" y="5413248"/>
            <a:ext cx="1069207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application's own before/after line: 40.2% (Low) → 69.9% (Very High), landing at the 92nd percentile of the out-of-time book. The percentile is the number that matters operationally — raw probabilities run high because the model is trained with balanced class weights.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420624" cy="420624"/>
          </a:xfrm>
          <a:prstGeom prst="ellipse">
            <a:avLst/>
          </a:prstGeom>
          <a:solidFill>
            <a:srgbClr val="132242"/>
          </a:solidFill>
          <a:ln w="12700">
            <a:solidFill>
              <a:srgbClr val="13224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329184"/>
            <a:ext cx="9601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2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Scenario Simulator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8696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idea at book level: what happens to the whole portfolio if every account's DPD rises by 15 days?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5566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7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Early Warning System  ·  Portfolio Scenario Simulator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094415" y="645566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7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  <p:pic>
        <p:nvPicPr>
          <p:cNvPr id="8" name="Image 0" descr="/tmp/claude-0/-home-user-DamDM/ed33eac7-9cd8-5572-9b68-27c635d41480/scratchpad/shots/08a_scenario_kp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89888"/>
            <a:ext cx="11094415" cy="976621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2421373"/>
            <a:ext cx="110944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7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→ after, across all 221,904 out-of-time accounts</a:t>
            </a:r>
            <a:endParaRPr lang="en-US" sz="850" dirty="0"/>
          </a:p>
        </p:txBody>
      </p:sp>
      <p:pic>
        <p:nvPicPr>
          <p:cNvPr id="10" name="Image 1" descr="/tmp/claude-0/-home-user-DamDM/ed33eac7-9cd8-5572-9b68-27c635d41480/scratchpad/shots/08b_scenario_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88920"/>
            <a:ext cx="4709160" cy="25510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" y="5349240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7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account count under the DPD +15 shock</a:t>
            </a:r>
            <a:endParaRPr lang="en-US" sz="850" dirty="0"/>
          </a:p>
        </p:txBody>
      </p:sp>
      <p:sp>
        <p:nvSpPr>
          <p:cNvPr id="12" name="Text 8"/>
          <p:cNvSpPr txBox="1"/>
          <p:nvPr/>
        </p:nvSpPr>
        <p:spPr>
          <a:xfrm>
            <a:off x="5532120" y="2788920"/>
            <a:ext cx="6108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2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shock does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532120" y="3182112"/>
            <a:ext cx="61081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predicted risk moves 43.3% → 53.9% across the book.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accounts roughly double: 66,571 → 131,533, with 65,032 newly flagged.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shock is propagated into the 3-month rolling features the model actually weighs, not just the raw monthly snapshot — otherwise the effect would be negligible.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Expected-loss proxy rises by ₹9.5 billion, which sizes the stress event in money rather than counts.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420624" cy="420624"/>
          </a:xfrm>
          <a:prstGeom prst="ellipse">
            <a:avLst/>
          </a:prstGeom>
          <a:solidFill>
            <a:srgbClr val="132242"/>
          </a:solidFill>
          <a:ln w="12700">
            <a:solidFill>
              <a:srgbClr val="13224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329184"/>
            <a:ext cx="9601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2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Collection Queue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8696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 score into a work list: given the capacity a team actually has, who gets contacted this cycle?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5566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7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Early Warning System  ·  Collection Queue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094415" y="645566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7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pic>
        <p:nvPicPr>
          <p:cNvPr id="8" name="Image 0" descr="/tmp/claude-0/-home-user-DamDM/ed33eac7-9cd8-5572-9b68-27c635d41480/scratchpad/shots/09a_collections_kp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89888"/>
            <a:ext cx="11094415" cy="976621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2421373"/>
            <a:ext cx="110944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7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at 10% collection capacity</a:t>
            </a:r>
            <a:endParaRPr lang="en-US" sz="850" dirty="0"/>
          </a:p>
        </p:txBody>
      </p:sp>
      <p:pic>
        <p:nvPicPr>
          <p:cNvPr id="10" name="Image 1" descr="/tmp/claude-0/-home-user-DamDM/ed33eac7-9cd8-5572-9b68-27c635d41480/scratchpad/shots/09b_collections_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33472"/>
            <a:ext cx="6583680" cy="175191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" y="4440247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7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vs. capture rate — accounts contacted against defaults caught</a:t>
            </a:r>
            <a:endParaRPr lang="en-US" sz="850" dirty="0"/>
          </a:p>
        </p:txBody>
      </p:sp>
      <p:sp>
        <p:nvSpPr>
          <p:cNvPr id="12" name="Text 8"/>
          <p:cNvSpPr txBox="1"/>
          <p:nvPr/>
        </p:nvSpPr>
        <p:spPr>
          <a:xfrm>
            <a:off x="7726680" y="2633472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2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capacity trade-off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7726680" y="3026664"/>
            <a:ext cx="39136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capacity → 14.2% of defaults caught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capacity → 25.2% caught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capacity → 42.2% caught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capacity → 55.9% caught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4681728"/>
            <a:ext cx="110944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7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resulting work list — ranked, with the actual outcome shown for validation</a:t>
            </a:r>
            <a:endParaRPr lang="en-US" sz="850" dirty="0"/>
          </a:p>
        </p:txBody>
      </p:sp>
      <p:pic>
        <p:nvPicPr>
          <p:cNvPr id="15" name="Image 2" descr="/tmp/claude-0/-home-user-DamDM/ed33eac7-9cd8-5572-9b68-27c635d41480/scratchpad/shots/09c_queue_tab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4882896"/>
            <a:ext cx="10424160" cy="145365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420624" cy="420624"/>
          </a:xfrm>
          <a:prstGeom prst="ellipse">
            <a:avLst/>
          </a:prstGeom>
          <a:solidFill>
            <a:srgbClr val="132242"/>
          </a:solidFill>
          <a:ln w="12700">
            <a:solidFill>
              <a:srgbClr val="13224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329184"/>
            <a:ext cx="9601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2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Cost-Benefit Analyzer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8696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editable assumptions turn the queue into rupees — and the recommended capacity follows from the money, not the capture rate.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5566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7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Early Warning System  ·  Cost-Benefit Analyzer · capacity view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094415" y="645566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7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  <p:pic>
        <p:nvPicPr>
          <p:cNvPr id="8" name="Image 0" descr="/tmp/claude-0/-home-user-DamDM/ed33eac7-9cd8-5572-9b68-27c635d41480/scratchpad/shots/10a_cb_kp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89888"/>
            <a:ext cx="11094415" cy="99617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2440928"/>
            <a:ext cx="110944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7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data-derived defaults: ₹200 per contact, ₹19,241 avoided per default caught</a:t>
            </a:r>
            <a:endParaRPr lang="en-US" sz="850" dirty="0"/>
          </a:p>
        </p:txBody>
      </p:sp>
      <p:pic>
        <p:nvPicPr>
          <p:cNvPr id="10" name="Image 1" descr="/tmp/claude-0/-home-user-DamDM/ed33eac7-9cd8-5572-9b68-27c635d41480/scratchpad/shots/10b_cb_netbenefi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33472"/>
            <a:ext cx="6309360" cy="167802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" y="4370832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7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benefit and ROI by collection capacity</a:t>
            </a:r>
            <a:endParaRPr lang="en-US" sz="850" dirty="0"/>
          </a:p>
        </p:txBody>
      </p:sp>
      <p:sp>
        <p:nvSpPr>
          <p:cNvPr id="12" name="Text 8"/>
          <p:cNvSpPr txBox="1"/>
          <p:nvPr/>
        </p:nvSpPr>
        <p:spPr>
          <a:xfrm>
            <a:off x="7178040" y="2633472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2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numbers come from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7178040" y="3026664"/>
            <a:ext cx="44622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Avoided loss per default caught is data-derived — the mean expected_loss_estimate among accounts that actually rolled.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contact has no source in the dataset. It is an assumption, editable live on the page.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4718304"/>
            <a:ext cx="10424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7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breakdown by capacity level</a:t>
            </a:r>
            <a:endParaRPr lang="en-US" sz="850" dirty="0"/>
          </a:p>
        </p:txBody>
      </p:sp>
      <p:pic>
        <p:nvPicPr>
          <p:cNvPr id="15" name="Image 2" descr="/tmp/claude-0/-home-user-DamDM/ed33eac7-9cd8-5572-9b68-27c635d41480/scratchpad/shots/10c_cb_breakdow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4919472"/>
            <a:ext cx="10424160" cy="144398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420624" cy="420624"/>
          </a:xfrm>
          <a:prstGeom prst="ellipse">
            <a:avLst/>
          </a:prstGeom>
          <a:solidFill>
            <a:srgbClr val="132242"/>
          </a:solidFill>
          <a:ln w="12700">
            <a:solidFill>
              <a:srgbClr val="13224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329184"/>
            <a:ext cx="9601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2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Threshold vs. Cost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8696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two assumptions, swept across the model's own probability cutoff instead of a capacity bucket.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5566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7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Early Warning System  ·  Cost-Benefit Analyzer · threshold view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094415" y="645566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7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  <p:pic>
        <p:nvPicPr>
          <p:cNvPr id="8" name="Image 0" descr="/tmp/claude-0/-home-user-DamDM/ed33eac7-9cd8-5572-9b68-27c635d41480/scratchpad/shots/10d_cb_thresh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6903720" cy="1820601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3291840"/>
            <a:ext cx="6903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7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 by threshold at ₹5,000 per contact — the green point is the cost-minimising cutoff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7726680" y="1463040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2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Cost-sensitive classification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726680" y="1874520"/>
            <a:ext cx="39136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 = false positives × cost per contact + false negatives × loss per missed default.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a miss reuses the same avoided-loss figure, so this is one assumption framed two ways — not a second hidden one.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3840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2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optimum moves with the assumption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48640" y="4242816"/>
            <a:ext cx="3511296" cy="1755648"/>
          </a:xfrm>
          <a:prstGeom prst="roundRect">
            <a:avLst>
              <a:gd name="adj" fmla="val 3125"/>
            </a:avLst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4370832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6F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₹200 per contact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4681728"/>
            <a:ext cx="31455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falls to the floor of the range — flag almost everyone.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731520" y="5541264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Capacity-bound, not cost-bound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325112" y="4242816"/>
            <a:ext cx="3511296" cy="1755648"/>
          </a:xfrm>
          <a:prstGeom prst="roundRect">
            <a:avLst>
              <a:gd name="adj" fmla="val 3125"/>
            </a:avLst>
          </a:prstGeom>
          <a:solidFill>
            <a:srgbClr val="E6F4EC"/>
          </a:solidFill>
          <a:ln w="12700">
            <a:solidFill>
              <a:srgbClr val="E6F4E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507992" y="4370832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9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₹5,000 per contact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4507992" y="4681728"/>
            <a:ext cx="31455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genuine interior optimum appears at threshold 0.70.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4507992" y="5541264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instructive middle case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8101584" y="4242816"/>
            <a:ext cx="3511296" cy="1755648"/>
          </a:xfrm>
          <a:prstGeom prst="roundRect">
            <a:avLst>
              <a:gd name="adj" fmla="val 3125"/>
            </a:avLst>
          </a:prstGeom>
          <a:solidFill>
            <a:srgbClr val="FBEDEA"/>
          </a:solidFill>
          <a:ln w="12700">
            <a:solidFill>
              <a:srgbClr val="FBEDE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284464" y="4370832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₹100,000 per contact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8284464" y="4681728"/>
            <a:ext cx="31455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Optimum at the ceiling — flag almost nobody, miss nearly every default.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8284464" y="5541264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Minimising cost is not the objective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420624" cy="420624"/>
          </a:xfrm>
          <a:prstGeom prst="ellipse">
            <a:avLst/>
          </a:prstGeom>
          <a:solidFill>
            <a:srgbClr val="132242"/>
          </a:solidFill>
          <a:ln w="12700">
            <a:solidFill>
              <a:srgbClr val="13224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329184"/>
            <a:ext cx="9601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2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Recommendation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8696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deploy, how well it performs, where to set the operating point — and what it must not be used for.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5566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7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Early Warning System  ·  Final Recommendation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094415" y="645566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7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  <p:pic>
        <p:nvPicPr>
          <p:cNvPr id="8" name="Image 0" descr="/tmp/claude-0/-home-user-DamDM/ed33eac7-9cd8-5572-9b68-27c635d41480/scratchpad/shots/11a_rec_kp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89888"/>
            <a:ext cx="11094415" cy="83693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2281687"/>
            <a:ext cx="110944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7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XGBoost, out-of-time performance</a:t>
            </a:r>
            <a:endParaRPr lang="en-US" sz="850" dirty="0"/>
          </a:p>
        </p:txBody>
      </p:sp>
      <p:pic>
        <p:nvPicPr>
          <p:cNvPr id="10" name="Image 1" descr="/tmp/claude-0/-home-user-DamDM/ed33eac7-9cd8-5572-9b68-27c635d41480/scratchpad/shots/11b_rec_tab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33472"/>
            <a:ext cx="11094415" cy="153683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" y="4225171"/>
            <a:ext cx="110944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7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operating threshold, with the capacity trade-off in full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548640" y="4590288"/>
            <a:ext cx="6903720" cy="1572768"/>
          </a:xfrm>
          <a:prstGeom prst="roundRect">
            <a:avLst>
              <a:gd name="adj" fmla="val 3488"/>
            </a:avLst>
          </a:prstGeom>
          <a:solidFill>
            <a:srgbClr val="E6F4EC"/>
          </a:solidFill>
          <a:ln w="12700">
            <a:solidFill>
              <a:srgbClr val="E6F4EC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49808" y="4718304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9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749808" y="5047488"/>
            <a:ext cx="64922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XGBoost as an early-warning prioritisation signal for proactive collections outreach — ranking active accounts by risk of rolling to 90+ DPD so limited capacity is spent where it matters most. Start at 20% capacity and scale with the team.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726680" y="4590288"/>
            <a:ext cx="3913632" cy="1572768"/>
          </a:xfrm>
          <a:prstGeom prst="roundRect">
            <a:avLst>
              <a:gd name="adj" fmla="val 3488"/>
            </a:avLst>
          </a:prstGeom>
          <a:solidFill>
            <a:srgbClr val="FBEDEA"/>
          </a:solidFill>
          <a:ln w="12700">
            <a:solidFill>
              <a:srgbClr val="FBEDEA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909560" y="4718304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limits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7909560" y="5029200"/>
            <a:ext cx="3547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support, not an autonomous credit decision.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are ranking-optimised, not calibrated.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case-study data; no fairness testing was possible.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322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574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warning, six months ahead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9326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AE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ranked, explainable, out-of-time-validated signal that puts collections capacity on the accounts most likely to need it — with every number in this deck computed live from the application.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7091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FA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21208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49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detail — EDA, feature engineering, leakage governance, ROC/KS, explainability — is in the application's Appendix section.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Behavioral Early Warning System</dc:title>
  <dc:subject>PptxGenJS Presentation</dc:subject>
  <dc:creator>Credit Risk Analytics</dc:creator>
  <cp:lastModifiedBy>Credit Risk Analytics</cp:lastModifiedBy>
  <cp:revision>1</cp:revision>
  <dcterms:created xsi:type="dcterms:W3CDTF">2026-08-30T15:37:19Z</dcterms:created>
  <dcterms:modified xsi:type="dcterms:W3CDTF">2026-08-30T15:37:19Z</dcterms:modified>
</cp:coreProperties>
</file>